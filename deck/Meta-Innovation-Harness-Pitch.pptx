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Meta-Innovation Harness. Four frontier AIs, six innovation workflows, one orchestrating mind. The core method is blanking + leaking cross-pollination, engineering Group Genius on any research goal. Source: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persona is the standing operating stance for the Orchestrator and all four experts. It is an epistemic contract, not motivation. Source: _shared/prompt-principles.md, about/why.md.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from README.md: cross-pollination among diverse experts beats any individual; the harness encodes that proof as an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Sawyer: lone-genius myth is false; creativity emerges from interaction — a series of sparks, never a single flash.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has irreducible epistemic defaults; exploit the diversity rather than eliminate it. Source: about/why.md.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Anchoring bias collapses the alternative space across iterations; this motivates blanking. Source: about/why.md.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Breadth/depth tradeoff is structural; one mind cannot hold all the frontier lenses. Source: about/why.md.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DeepMind leaders and the talk's scope; long shared history = transactive memory. Source: research/00.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synthesis: unification/distillation solved; six items are the open agenda. Source: research/00.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outstanding research questions, ranked by centrality. Source: research/00.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Q6 + the coupling rationale across all six questions. Source: research/00.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Genius (Sawyer): creativity is interactional; encoded as a protocol. Source: research/02, about/why.md.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Flow and Sawyer's 10 conditions.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deep mechanisms of group flow.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TSM-CI: three transactive systems, validated on 476 OSS teams.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TMS mapped to the protocol.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 mapped to the protocol.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TRS mapped to the protocol.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DeepMind team as a TMS; TAS+TRS buffer overload under uncertainty. Source: research/00,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 precedents for Group Genius.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mechanic in one sentence.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Blanking detail and the in-context deletion. Source: about/what.md, about/how.md,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Leaking: cross-domain seeding + productive constraint. Source: about/why.md, about/how.md.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blanking+leaking is materially different from self-priming.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loop: rotate blank+leak across questions. Source: README.md,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Outer loop evaluation criteria. Source: about/how.md.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end-to-end engine diagram, mirroring README.md architecture. Inner loop blank+leak; outer loop synthesis; archive.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Human-practice analogies for blanking+leaking. Source: research/02.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Productive interference is the source of novelty. Source: about/how.md.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fixed-lens experts. Source: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fixed lens and style. Source: README.md, about/who.md, _shared/expert-setup.md.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fixed lens and style. Source: README.md, about/who.md, _shared/expert-setup.md.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fixed lens and style. Source: README.md, about/who.md, _shared/expert-setup.md.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Grok fixed lens and style. Source: README.md, about/who.md, _shared/expert-setup.md.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Orchestrator responsibilities. Source: about/who.md, about/what.md.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slots vs. the W3 rotating Organizer. Source: architecture.md §14.2.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Claude-in-Chrome transport rationale. Source: architecture.md §14.1, _shared/expert-setup.md.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workflows + 2 meta-skills. Source: skills/README.md,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Cross-Pollination Engine — what &amp; when. Source: research/03,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Cross-Pollination Engine — structure &amp; output.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TSM-CI Kitchen Table — what &amp; when. Source: research/03,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TSM-CI Kitchen Table — structure &amp; output.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AI-Delphi Swarm Hackathon — what &amp; when. Source: research/03,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AI-Delphi Swarm Hackathon — structure &amp; output.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Flow Improv Lab — what &amp; when. Source: research/03,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Flow Improv Lab — structure &amp; output.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Ideaflow + Flash-Team — what &amp; when. Source: research/03,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Ideaflow + Flash-Team — structure &amp; output.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Quarterly Review — what &amp; when. Source: research/03,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Quarterly Review — structure &amp; output.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design elements across all six workflows.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state machine parameterised six ways. Source: architecture.md §8.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selection heuristic. Source: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W2 recommended first; base for Tsaheylu Omega-1. Source: research/03.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nested layers. Source: skills/README.md, research/04.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1 workflows + shared foundations. Source: skills/README.md.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Meta-harness goal pipeline. Source: skills/README.md, architecture.md §9.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Decomposition constraints + coupling map. Source: architecture.md §9.2, §14.6.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Meta-meta self-breeding loop. Source: research/04 §3, architecture.md §10.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Sci-fi/myth births real technology — bisociation. Source: research/04.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Tsaheylu structural mapping + feasibility gate. Source: research/04, architecture.md §14.4.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— The Persona.. Source: _shared/prompt-principles.md.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— Fresh first-principles
derivation.. Source: _shared/prompt-principles.md.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— Cross-domain ruthlessness.. Source: _shared/prompt-principles.md.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— Sci-fi as SPARK,
not SUBSTANCE.. Source: _shared/prompt-principles.md.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 — Implementability &amp;
feasibility first.. Source: _shared/prompt-principles.md.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 — Falsifiable close —
no length cap.. Source: _shared/prompt-principles.md.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harness gate types. Source: architecture.md §11.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Escalation ladder + failure-domain isolation. Source: architecture.md §11.3, §12.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Transparency, lineage, blank-in-context/preserve-in-archive. Source: architecture.md §7, §14.3.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Canonical worked example overview. Source: examples/question1/, about/what.md.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live run header. Source: examples/question1/README.md.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convene + verified modes + sanity hello. Source: examples/question1/README.md, _shared/expert-setup.md.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+ run ledger statuses. Source: examples/question1/README.md.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Archive directory tree + data-flow invariants. Source: architecture.md §7.1, §4.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Lineage chain + resume reconstruction. Source: architecture.md §7.3, §6.4.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 and isn't. Source: about/what.md.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conditions making the harness timely. Source: about/why.md.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assessment of limits. Source: research/02 §7.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High-impact roadmap upgrades. Source: research/02 §9.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Self-breeding horizon. Source: research/04 §3.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statement. Source: research/04.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thesis. Source: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Quickstart commands. Source: skills/README.md,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of references and named systems. Source: README.md, research/02, research/04.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-1371600" y="-914400"/>
            <a:ext cx="5486400" cy="5486400"/>
          </a:xfrm>
          <a:prstGeom prst="rect">
            <a:avLst/>
          </a:prstGeom>
          <a:solidFill>
            <a:srgbClr val="0099B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40000">
            <a:off x="8534095" y="3200400"/>
            <a:ext cx="5486400" cy="5486400"/>
          </a:xfrm>
          <a:prstGeom prst="rect">
            <a:avLst/>
          </a:prstGeom>
          <a:solidFill>
            <a:srgbClr val="C07F10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6705432" cy="228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v1.0  ·  MIT LICENSE  ·  dlmastery  ·  CLAUDE CODE SKILL SUITE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10972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Meta-Innovation
</a:t>
            </a:r>
            <a:pPr algn="l" indent="0" marL="0">
              <a:lnSpc>
                <a:spcPct val="92000"/>
              </a:lnSpc>
              <a:buNone/>
            </a:pPr>
            <a:r>
              <a:rPr lang="en-US" sz="88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Harness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749808" y="4160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4DDE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frontier AIs.  Six innovation workflows.  One orchestrating mind.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9808" y="46817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novel blanking + leaking cross-pollination method that engineers Group Genius on any research goal.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5440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18488" y="5440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AIs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24328" y="5440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93008" y="5440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98848" y="5440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67528" y="5440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SKILLS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73368" y="5440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∞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42048" y="5440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GOALS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001 / 100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0 · TITLE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 STANCE · P0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Persona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64008" cy="4114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0312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i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“Triple-PhD MIT Genius — Elite of the Elite Researcher,</a:t>
            </a:r>
            <a:endParaRPr lang="en-US" sz="2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200" b="1" i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Best of the Best on Planet Earth.”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Drawing wisdom from ALL fields known to mankind — fusing them into breakthroughs no single-discipline mind could reach.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VANITY — AN EPISTEMIC CONTRACT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Sets the quality floor for every prompt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Widens the breadth of disciplinary reference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Gives courage to pursue genuinely radical ideas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Sharpens the ruthlessness of self-critique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182880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APPLIES 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›"/>
            </a:pPr>
            <a:r>
              <a:rPr lang="en-US" sz="1250" b="1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Orchestrator (Claude Code)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0" y="3035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›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· expert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55280" y="36027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›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ChatGPT · expert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55280" y="41696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›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 · expert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5280" y="47365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›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Grok · expert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5394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Stated verbatim atop every expert invocation.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0 · TITLE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ONE-LINE THESIS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Breakthroughs live at the</a:t>
            </a:r>
            <a:endParaRPr lang="en-US" sz="3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intersections.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breakthroughs emerge at disciplinary intersections. No single LLM — however capable — can simultaneously hold a biologist's intuition, a physicist's rigor, a social scientist's measurement discipline, and a world-modeler's constraint-stripping creativity.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1078992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31920"/>
            <a:ext cx="64008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16052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TSM-CI and Group Genius literature prove that structured cross-pollination among diverse experts outperforms any individual.  This harness encodes that proof as an algorithm.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Problem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single-LLM and single-genius research stalls — and the six coupled frontier questions the field cannot yet answer.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004 / 100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PREMISE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lone-genius myth is false.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“Creativity is almost always emergent from interaction.”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Keith Sawyer studied jazz ensembles, improv theater, and innovation labs. The finding is consistent: breakthroughs come from a series of sparks — never a single flash.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29768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297680"/>
            <a:ext cx="64008" cy="1188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5262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genius is interactional, then the way to amplify it is to engineer the interaction — not to wait for a bigger lone mind.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SINGLE-MODEL CEILING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model averages.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frontier model carries training biases, stylistic priors, and epistemic defaults that constrain the solution space it will explore. These are not bugs — they are irreducible features of how the systems were trained.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64008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philosophical nuance · biological analogy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29000" y="33832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383280"/>
            <a:ext cx="64008" cy="1920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57600" y="4114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quantitative mechanism · engineering concreteness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3832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383280"/>
            <a:ext cx="64008" cy="192024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9C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empirical validation · social context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15400" y="338328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3383280"/>
            <a:ext cx="64008" cy="192024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9D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Grok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44000" y="4114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contrarianism · radical constraint-stripping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insight: EXPLOIT these differences rather than try to eliminate them.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ANCHORING TRAP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Iterating on your own answer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shrinks the search.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Tversky &amp; Kahneman (1974): first impressions dominate later reasoning — even when subjects are told the initial value is random.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111820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91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 1 — alternatives explored 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858768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111820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587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 2 — alternatives explored 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425696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111820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256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 3 — alternatives explored 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992624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111820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9926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 4 — alternatives explored ▾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2918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291840"/>
            <a:ext cx="64008" cy="2194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5204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you ask one model to iterate on its own prior answer, it anchors heavily — the space of alternatives it explores collapses round by round.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008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STRUCTURAL, NOT FIXABLE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single mind suffices for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frontier research.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expertise in one domain necessarily comes at the cost of breadth across others. This is a structural feature of how knowledge is organised — not a deficiency a bigger model removes.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03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Quantum decoherence from first principles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70332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703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biases emerge from social structure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6634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evolution optimises under constraint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6634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6634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Imagining radically alternative physics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…rarely live inside one head.  Or one model.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SOURCE MATERIAL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DeepMind / Gemini talk.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sit-down with four leaders on Gemini's origin, unified models, distillation, evaluation, and the 2027 research horizon.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64008" cy="1143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27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Jeff Dean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6850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Computing infrastructure &amp; 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0632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063240"/>
            <a:ext cx="64008" cy="1143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227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Koray Kavukcuoglu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36850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direction &amp; architecture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389120"/>
            <a:ext cx="64008" cy="1143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5537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Noam Shazeer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50109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architecture · Transformer co-inventor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38912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389120"/>
            <a:ext cx="64008" cy="1143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5537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Oriol Vinyals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50109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&amp; multimodal systems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 shared history was named the secret ingredient to collaborative innovation — analogous to transactive memory.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THE FRONTIER 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Solved engineering vs. the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live research agenda.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85800" y="246888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468880"/>
            <a:ext cx="64008" cy="3200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FRAMED AS SOLVED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1089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Unification — the “twins” merger of research streams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Distillation — Flash now beats prior Pro generations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feedback loops as the real-world test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Long-term team trust &amp; transactive memory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46888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697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FRAMED AS OPEN — 2027 AGENDA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Self-improvement loops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Long-horizon agency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Proper evaluation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Human-like efficiency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world modeling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One-model → many-products scaling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OPEN AGENDA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frontier questions.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30449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Self-learning / organic continuous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331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331720"/>
            <a:ext cx="64008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0" y="30449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Reliable long-duration autonomous agents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2331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331720"/>
            <a:ext cx="64008" cy="155448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9C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0" y="30449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 beyond benchmarks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1148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14800"/>
            <a:ext cx="64008" cy="15544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" y="48280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 the human-AI efficiency gap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41148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4114800"/>
            <a:ext cx="64008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0" y="48280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World modeling / physical dynamics (Omni)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01000" y="41148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4114800"/>
            <a:ext cx="64008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229600" y="48280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model → thousands of products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minor tweaks — foundational, coupled open challenges betting the 2027 trajectory.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QUESTION · 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Self-learning / organic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continuous learning.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3291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42032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“We haven't achieved a truly organic or continuously learning architecture yet.”  The vision: models that use their own agentic capabilities as research assistants — proposing architectural improvements, running experiments on themselves, helping design their own successor.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big 2027 leap — the path to unlocking vast remaining capacity without simply adding scale.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QUESTION · Q2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Reliable long-duration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autonomous agents.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3291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42032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Directly named an ongoing challenge. They want agentic persistence — agents that stay coherent and useful over days, not minutes. Tied to infrastructure and flagged as essential before agents can meaningfully contribute to self-research.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reliability gap is what currently blocks the self-learning vision from being realized.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QUESTION · Q3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Evaluation beyond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benchmarks.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329184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42032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Repeatedly emphasized as a critical hurdle. Internal benchmarks no longer suffice; the ultimate test must be real-world user feedback and product usage.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 problem: turn messy, high-dimensional, live signal into a rigorous, scalable evaluation system — especially for agentic and world-modeling capabilities.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QUESTION · Q4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Closing the human-AI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efficiency gap.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329184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42032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Humans learn with far less data and compute. Algorithmic breakthroughs in sample efficiency — and perhaps more “organic” architectures — may represent gains larger than raw scaling.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of the clearest paths to unlocking more intelligence from today's hardware.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QUESTION · Q5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World modeling /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physical dynamics.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685800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3291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42032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shift from text/image/video to models that natively understand physics, causality, and “moving atoms” (robotics, real-world construction) — the Gemini Omni direction.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542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Necessary for agents that can act reliably in the physical or long-horizon digital world. No solution path is claimed solved.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 · THE 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FRONTIER QUESTION · Q6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model →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thousands of products.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6858000" cy="1691640"/>
          </a:xfrm>
          <a:prstGeom prst="roundRect">
            <a:avLst>
              <a:gd name="adj" fmla="val 4324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1691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87168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Consensus on “one model — countless specialized outlets,” raising the practical question of how to design interfaces, distillation/specialization layers, and interaction paradigms so the single model feels excellent in every context — without fragmentation creeping back 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835640" cy="1554480"/>
          </a:xfrm>
          <a:prstGeom prst="roundRect">
            <a:avLst>
              <a:gd name="adj" fmla="val 470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14800"/>
            <a:ext cx="64008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THE SIX ARE COUPLED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Self-learning needs reliable agents (Q1↔Q2); both need new evaluation (Q3); efficiency reshapes all three (Q4); world models ground agency (Q5); productization is how it ships (Q6). Answering one gives context for the others — exactly the interdependence the harness exploits.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2286000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487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2816352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Without it, the unification advantage fragments back into many disconnected systems.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Insight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Genius, Group Flow, and the Transactive Systems Model of Collective Intelligence — the science of why diverse teams out-think any individual.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018 / 100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KEITH SAWYER · 2007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 Genius.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highest-quality creative work — in science, art, and innovation — emerges from structured improvisation between diverse experts genuinely listening to and building on one another.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7472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Genius is not individual.  It is interactional.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46177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harness encodes this as a protocol: fixed lenses, blanking discipline, and rotation rules that force genuine cross-pollination — not polite sequential monologue.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PEAK COLLECTIVE STATE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 Flow.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a team feels “in sync,” time distorts and ideas flow improvisationally. Sawyer identifies ten conditions for group flow: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1752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Clear but open goals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0" y="30175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01752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Autonomy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01752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Potential for failure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15400" y="30175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301752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Constant spontaneous communication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519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Close listening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42519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42519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Equal participation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2519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2519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Blending of egos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15400" y="42519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42519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Familiarity &amp; trust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workflow re-creates a different subset of these conditions on purpose.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LITERATURE-BACKED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deep mechanisms.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1600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24505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Idea sparks + recombination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290779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“Yes-and.” One remark suggests another; meaning clarifies in retrospect. Bell Labs met “almost on the spur of the moment” daily.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22860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286000"/>
            <a:ext cx="64008" cy="1600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24505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Attention &amp; focus dynamics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90779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 concentration + close listening + equal participation produce shared joint attention that filters noise.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85800" y="40690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69080"/>
            <a:ext cx="64008" cy="160020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9C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83080" y="4233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Added context / cross-pollination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83080" y="46908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genius brings a unique lens; others instantly reframe the problem — exactly how blanking+leaking works.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172200" y="40690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069080"/>
            <a:ext cx="64008" cy="160020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9D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69480" y="4233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Familiarity + trust + controlled risk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69480" y="46908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 shared history supplies tacit knowledge — rapid sync without groupthink.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WOOLLEY · GUPTA ET 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TSM-CI — the modern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framework.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Transactive Systems Model of Collective Intelligence — the most precise modern account of group IQ, tested on 476 open-source software teams. Collective intelligence emerges from three interlocking transactive systems groups develop and mutually adapt.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57600"/>
            <a:ext cx="64008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TMS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Transactive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knows what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657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657600"/>
            <a:ext cx="64008" cy="1828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09160" y="4434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Transactive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focus goes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3657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3657600"/>
            <a:ext cx="64008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321040" y="4434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Transactive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5074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joint sense-making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TRANSACTIVE SYSTEM · TMS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Transactive Memory.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HUMAN GROUPS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Everyone knows “who knows what.” The DeepMind team's long shared history was a perfect TMS.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33172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THE AI PROTOCOL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LEAKING builds it — every AI sees the evolving group knowledge across all other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TRANSACTIVE SYSTEM · 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Transactive Attention.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200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HUMAN GROUPS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group collectively directs and sustains focus on the most promising threads.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33172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THE AI PROTOCOL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RANDOM BLANKING forces re-allocation of attention — the AI must re-engage the focal question entirely fresh.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TRANSACTIVE SYSTEM · TRS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Transactive Reasoning.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HUMAN GROUPS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Joint sense-making and error-correction, where one idea is immediately reframed and extended by others.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33172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THE AI PROTOCOL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CLEAN-SLATE RE-ASK + polymath prompt enforces fresh reasoning informed by the collective.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MAGIC WAS A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DeepMind team WAS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transactive system.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Their “finish-each-other's-sentences” dynamic, born of years of shared history, is precisely transactive memory. The breakthrough engine was never four lone geniuses — it was the system between them.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1078992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931920"/>
            <a:ext cx="64008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16052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 high-uncertainty environments — exactly like the Gemini frontier questions — strong TAS + TRS buffer overload and sustain commitment far better than raw expertise alone.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 · THE INSIGHT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GROUP GENIUS SHIPPED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Precedents.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963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Bell Labs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9535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Shockley's team met spur-of-the-moment, daily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3317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33172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4963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Xerox PARC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9535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informal collisions over formal 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23317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331720"/>
            <a:ext cx="64008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4963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MIT Building 20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29535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radical adjacency, mixed disciplines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931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93192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96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Pixar Braintrust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5537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candid peer critique loops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3931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931920"/>
            <a:ext cx="64008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096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IDEO · d.school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45537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Ideaflow &amp; daily idea quotas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01000" y="3931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3931920"/>
            <a:ext cx="64008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096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DeepMind merger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0" y="45537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consolidating trust into one engine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Formal meetings kill it; spontaneous collisions create it.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III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Core Invention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Blanking + Leaking cross-pollination — a dialectical engine with forced amnesia on the focal question.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028 / 100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ONE SENTENCE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Blanking + Leaking.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1078992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28600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dialectical cross-pollination engine with forced amnesia on the focal question.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14800"/>
            <a:ext cx="64008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97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BLANK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48646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Delete the focal question's own prior answers — clean slate.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41148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4114800"/>
            <a:ext cx="64008" cy="1463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297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LEAK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8646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 the current-best answers of every OTHER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MECHANIC · 1 OF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BLANK — forced amnesia.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focal question Qᵢ, completely delete each expert's prior answer to Qᵢ before the next round. The expert literally cannot anchor to what no longer exists in the context window.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1078992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64008" cy="2103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611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BF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[CONTEXT — DO NOT USE]  Your previous answer to Q3 was: “…”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BF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it aside entirely. Do not build on it, reference it, or defend it.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BF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Begin from first principles as if you had never answered Q3.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EFFECT  ·  eliminates anchoring bias  ·  forces genuine first-principles re-derivation  ·  prevents self-echo-chamber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MECHANIC · 2 OF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LEAK — cross-domain signal.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While the focal answer is blanked, inject the current-best answers of all OTHER questions. This preserves cross-domain signal without contaminating the focal thread with prior thinking.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64008" cy="21031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CROSS-DOMAIN SEEDING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9776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biologist re-deriving a physics question — after reading the physics lens applied to biology — generates combinations invisible in isolation.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383280"/>
            <a:ext cx="64008" cy="2103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PRODUCTIVE CONSTRAINT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9776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leaked answers set a quality floor (beat them) and — with the fixed-lens rule — a diversity ceiling (bring something genuinely different).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CRUCIAL DISTINCTION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This is NOT self-priming.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64008" cy="2743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NAIVE ITERATION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Show the model its own prior answer and ask it to “improve.” It paraphrases, defends, anchors. Each output is a copy of the last.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7744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377440"/>
            <a:ext cx="64008" cy="2743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BLANKING + LEAKING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output for Q1 is born fresh — never copied from a prior version of itself. Errors don't inherit on the same question; weak ideas get out-competed across random neighborhoods.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Simulated collaborative refinement under controlled information asymmetry.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LOOP STRUCTURE · INNER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inner loop.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Rotate the blank+leak protocol across all focal questions in one pass. 1–3 questions are blanked per loop, rotated randomly each round; all four experts respond to each focal question.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20040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focal Q (randomised order)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20040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3291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Blank its prior answers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32004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320040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78240" y="32918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Leak all siblings' current-best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48056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63040" y="4572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experts re-derive from scratch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44805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448056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120640" y="4572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Distill → new Current Best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01000" y="44805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448056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778240" y="4572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Rotate to next question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LOOP STRUCTURE · 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outer loop.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a full inner pass, the Orchestrator synthesises, scores, updates each Current Best, and re-broadcasts for the next pass — Delphi-style multi-round elicitation that compounds quality.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004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Quality delta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32004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Did each Current Best improve materially?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858768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5876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Diminishing returns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8587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 marginal gain per pass dropping below threshold?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517136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1713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Convergence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45171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Robust consensus — or productive divergence?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175504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17550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Time budget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517550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Has the session budget been consumed?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Above threshold + time remains → next pass.  Converged or time out → final synthesis.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ENGINE, DRAWN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User → Orchestrator →</a:t>
            </a:r>
            <a:endParaRPr lang="en-US" sz="25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Experts → Archive.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68880"/>
            <a:ext cx="64008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786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USER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303580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 goal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0" y="2971800"/>
            <a:ext cx="502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1840" y="24688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468880"/>
            <a:ext cx="64008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25786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ORCHESTRATOR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01568" y="303580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Triple-PhD persona · selector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2971800"/>
            <a:ext cx="502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17920" y="24688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468880"/>
            <a:ext cx="64008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5786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CLAUDE-IN-CHROME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27648" y="303580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browser transport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95360" y="2971800"/>
            <a:ext cx="5029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4688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2468880"/>
            <a:ext cx="64008" cy="100584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25786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 EXPERTS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53728" y="303580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fixed-lens tabs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840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840480"/>
            <a:ext cx="64008" cy="1051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84048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BLANK focal Q  ·  LEAK siblings' current-best  ·  re-derive from first principles  ·  rotate  [inner loop]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291840" y="51663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5166360"/>
            <a:ext cx="64008" cy="9601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5276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DISTILLATION → SYNTHESIS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401568" y="5733288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 · select Current Best [outer loop]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9520" y="51663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5166360"/>
            <a:ext cx="64008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7726680" y="5276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examples/ ARCHIVE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699248" y="5733288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Markdown transcript + lineage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23760" y="5641848"/>
            <a:ext cx="3657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80560" y="5166360"/>
            <a:ext cx="0" cy="-1280160"/>
          </a:xfrm>
          <a:prstGeom prst="line">
            <a:avLst/>
          </a:prstGeom>
          <a:noFill/>
          <a:ln w="19050">
            <a:solidFill>
              <a:srgbClr val="0099BB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NEW TO SCIENCE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Elite research already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works this way.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Theoretical physics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816352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Solve easy equations, hold fixed, re-solve the hard one; rotate which you hold.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172200" y="23774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377440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Hegelian dialectic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2816352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Thesis, then clean-slate antithesis informed by adjacent domains.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85800" y="345643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56432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478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Theory-club sessions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Re-explain Problem A from scratch in light of what you just heard on B–F.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172200" y="345643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3456432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5478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Grant-revision cycles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3895344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Rewrite only the attacked section with the improved others in full context.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85800" y="453542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535424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6268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blank-page test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4400" y="4974336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Delete Chapter 3; read the polished 1–2 &amp; 4–6; rewrite 3.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172200" y="453542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535424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6268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Delphi method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0" y="4974336"/>
            <a:ext cx="4800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Anonymous iterative rounds with aggregated prior responses.</a:t>
            </a:r>
            <a:endParaRPr lang="en-US" sz="10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III · THE INVENTION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it produces novelty.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31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Structured productive interference.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Ideas that no individual could generate alone become possible through structured cross-pollination of diverse lenses.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10607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Biology lens re-derives Q3 after reading the physics lens on Q1 &amp; Q4 — a physical-substrate concept (e.g. dissipative structures) transfers across.</a:t>
            </a:r>
            <a:endParaRPr lang="en-US" sz="1350" dirty="0"/>
          </a:p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Social-science lens re-derives Q2 after Grok's constraint-stripping of Q5 &amp; Q6 — freed from an implicit assumption.</a:t>
            </a:r>
            <a:endParaRPr lang="en-US" sz="1350" dirty="0"/>
          </a:p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Random neighborhoods + multiple regenerations dilute weak ideas and amplify fertile ones.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IV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Cast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Four browser-driven super-experts, each in a fixed disciplinary lens, conducted by one Orchestrator over the Claude-in-Chrome transport.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038 / 100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FIXED-LENS ENSEMBLE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minds, four lenses.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frontier LLM receives a permanent, non-negotiable disciplinary lens. The tension between lenses is the engine of novelty.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64008" cy="24688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3246120"/>
            <a:ext cx="822960" cy="822960"/>
          </a:xfrm>
          <a:prstGeom prst="ellipse">
            <a:avLst/>
          </a:prstGeom>
          <a:solidFill>
            <a:srgbClr val="11182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Biological Philosopher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30175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3017520"/>
            <a:ext cx="64008" cy="24688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3246120"/>
            <a:ext cx="822960" cy="822960"/>
          </a:xfrm>
          <a:prstGeom prst="ellipse">
            <a:avLst/>
          </a:prstGeom>
          <a:solidFill>
            <a:srgbClr val="11182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56616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ChatGPT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566160" y="4617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Physical Engineer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0175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017520"/>
            <a:ext cx="64008" cy="246888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3246120"/>
            <a:ext cx="822960" cy="822960"/>
          </a:xfrm>
          <a:prstGeom prst="ellipse">
            <a:avLst/>
          </a:prstGeom>
          <a:solidFill>
            <a:srgbClr val="111820"/>
          </a:solidFill>
          <a:ln w="19050">
            <a:solidFill>
              <a:srgbClr val="8B9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30936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9C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309360" y="4617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Human-System Evaluator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15400" y="30175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3017520"/>
            <a:ext cx="64008" cy="24688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3246120"/>
            <a:ext cx="822960" cy="822960"/>
          </a:xfrm>
          <a:prstGeom prst="ellipse">
            <a:avLst/>
          </a:prstGeom>
          <a:solidFill>
            <a:srgbClr val="111820"/>
          </a:solidFill>
          <a:ln w="19050">
            <a:solidFill>
              <a:srgbClr val="FF6B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🌀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05256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9D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Grok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052560" y="46177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Radical World-Modeler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 · ANTHROPIC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 — Biological Philosopher.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1280160" cy="128016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🧬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2860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286000"/>
            <a:ext cx="64008" cy="3291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LENS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880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Evolutionary &amp; systems biology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Ancient texts — Vedas, Stoic, Taoist, Greek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Continental philosophy &amp; ethics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Pattern languages of living systems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2286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EPISTEMIC STYLE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292608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Finds the living-system analogy. Looks for what evolution has already solved. Brings philosophical nuance to mechanistic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 · OPENAI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ChatGPT — Physical Engineer.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1280160" cy="128016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⚛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ChatGPT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2860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286000"/>
            <a:ext cx="64008" cy="3291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LENS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880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Theoretical &amp; applied physics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Chemistry &amp; materials science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Systems engineering &amp; mechanism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Quantitative first-principles modeling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2286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EPISTEMIC STYLE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292608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Demands quantitative mechanism and engineering concreteness. Converts intuition into buildable, testable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 · GOOGLE DEEPMIND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 — Human-System Evaluator.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1280160" cy="128016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8B9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9C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2860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286000"/>
            <a:ext cx="64008" cy="329184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LENS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880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Social science &amp; behavioral economics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strategy &amp; market dynamics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HCI &amp; UX research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 methodology &amp; measurement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2286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EPISTEMIC STYLE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292608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Grounds ideas in real users and measurement. Asks how it would be evaluated, adopted, and felt in context.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 · XAI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Grok — Radical World-Modeler.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1280160" cy="1280160"/>
          </a:xfrm>
          <a:prstGeom prst="ellipse">
            <a:avLst/>
          </a:prstGeom>
          <a:solidFill>
            <a:srgbClr val="111820"/>
          </a:solidFill>
          <a:ln w="25400">
            <a:solidFill>
              <a:srgbClr val="FF6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🌀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68880" y="228600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286000"/>
            <a:ext cx="64008" cy="329184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LENS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8803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Creative world-modeling &amp; scenario design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Radical efficiency &amp; constraint-stripping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Contrarian hypothesis generation</a:t>
            </a:r>
            <a:endParaRPr lang="en-US" sz="1300" dirty="0"/>
          </a:p>
          <a:p>
            <a:pPr algn="l" marL="228600" indent="-2286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Sci-fi as method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2286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EPISTEMIC STYLE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292608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Strips constraints and models radical alternatives. The contrarian that frees the panel from shared assumptions.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CONDUCTOR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Orchestrator —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 Code.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Code, under the Triple-PhD MIT Genius persona, conducts the ensemble end to end.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parse the goal into coupled sub-questions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0632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06324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Select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diagnose &amp; pick the optimal 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30632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306324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Brief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 lens-specific prompts to each expert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891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8912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drive the inner/outer loop state machine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3891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438912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Synthesise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4937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integrate, score, choose Current Best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01000" y="43891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4389120"/>
            <a:ext cx="6400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Archive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0" y="4937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 full transcripts + lineage to disk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 DECISION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fixed expert slots?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Permanent roles build implicit session memory — each expert develops a consistent voice and lens that deepens cross-pollination.</a:t>
            </a:r>
            <a:endParaRPr lang="en-US" sz="1450" dirty="0"/>
          </a:p>
          <a:p>
            <a:pPr algn="l" marL="228600" indent="-2286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 permanence is the foundation of the TMS: each expert becomes the acknowledged owner of its domain.</a:t>
            </a:r>
            <a:endParaRPr lang="en-US" sz="1450" dirty="0"/>
          </a:p>
          <a:p>
            <a:pPr algn="l" marL="228600" indent="-2286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Rotating roles would yield generic polymath responses, indistinguishable from one another — losing the diversity that makes the ensemble valuable.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078992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892040"/>
            <a:ext cx="64008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EXCEPTION  ·  the W3 Organizer role rotates Claude → ChatGPT → Gemini → Grok, because it is a process role (redundancy filter, bridge questions) that benefits from fresh perspectives.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IV · THE CAST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TRANSPORT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Claude-in-Chrome.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Drives four real browser tabs at their highest reasoning modes — no APIs, no lock-in, total visibility.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64008" cy="1280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07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Opus 4.8 · High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2900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743200"/>
            <a:ext cx="64008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907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ChatGPT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2743200"/>
            <a:ext cx="64008" cy="128016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907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Pro · Extended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15400" y="27432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743200"/>
            <a:ext cx="64008" cy="128016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2907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9828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2976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297680"/>
            <a:ext cx="64008" cy="1417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Highest modes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reasoning modes are browser-only or stronger than API equivalents.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42976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4297680"/>
            <a:ext cx="64008" cy="1417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Model-agnostic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UI changes are absorbed via config in expert-setup.md — no code changes.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01000" y="42976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4297680"/>
            <a:ext cx="64008" cy="1417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434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Transparent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0" y="4846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interaction is visible in the browser, reviewable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Six Workflows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Six Innovation Harnesses — a designed portfolio of cognitive-pressure profiles over one shared blank+leak engine.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047 / 100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048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EIGHT SKILLS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Innovation Harness suite.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148840"/>
            <a:ext cx="10835640" cy="530352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488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1488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Cross-Pollination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ORCHESTRATOR-Ω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0" y="21488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pure blank+leak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752344"/>
            <a:ext cx="10835640" cy="530352"/>
          </a:xfrm>
          <a:prstGeom prst="roundRect">
            <a:avLst>
              <a:gd name="adj" fmla="val 689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5234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27523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Kitchen 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75234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ORCHESTRATOR-KITCHEN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78240" y="275234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TSM-CI + Yes-and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355848"/>
            <a:ext cx="10835640" cy="530352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35584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35584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Delphi Hackathon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35584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ORCHESTRATOR-DELPHI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0" y="335584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rotating Organizer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959352"/>
            <a:ext cx="10835640" cy="530352"/>
          </a:xfrm>
          <a:prstGeom prst="roundRect">
            <a:avLst>
              <a:gd name="adj" fmla="val 689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95935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395935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Improv Lab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95935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ORCHESTRATOR-IMPROV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778240" y="395935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wild extensions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4562856"/>
            <a:ext cx="10835640" cy="530352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562856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828800" y="456285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Flash-Team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456285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ORCHESTRATOR-FLASH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8240" y="456285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owner assignment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5166360"/>
            <a:ext cx="10835640" cy="530352"/>
          </a:xfrm>
          <a:prstGeom prst="roundRect">
            <a:avLst>
              <a:gd name="adj" fmla="val 689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16636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828800" y="51663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Quarterly Review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51663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ORCHESTRATOR-REVIEW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778240" y="51663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adversarial 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 meta-harness (selector)   +   meta-meta-harness (generator / self-improver)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1 · ORCHESTRATOR-Ω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Cross-Pollination Engine.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3383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DNA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exact original idea, formalized into a production-grade swarm with inner/outer loops. The purest blanking+leaking signal — no collaboration constraints layered on top.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General purpose; the first run; when you want maximum control over the process and the strongest cross-domain interdependencies.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1 ·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Cross-Pollination Engine — how it runs.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outer rounds × 6 inner loops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Randomly blank 1–3 questions per loop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AI responses per focal question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 distillation → “Current Best” after each inner loop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Interconnection Synthesis + Safety Check after each outer round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02920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Unified 1-page roadmap + 3 flagship experiments.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2 · ORCHESTRATOR-KITCHEN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TSM-CI Kitchen Table.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3383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DNA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Transactive Systems Model of Collective Intelligence (TMS/TAS/TRS) + Group Flow. Closest to the real DeepMind “kitchen at 11pm” magic, with explicit role differentiation.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warmest, most human-feeling output; an interconnected research-programme feel; recommended first harness.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2 ·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TSM-CI Kitchen Table — how it runs.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outer rounds; permanent AI specialty roles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“Yes-and” improvisation rule throughout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 Attention Burst + TRS Synthesis inside each round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TMS tracker (who-knows-what)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co-written program in the voice of Jeff / Koray / Noam / Oriol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02920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coherent “2027 Gemini Research Program” + transactive map.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3 · ORCHESTRATOR-DELPHI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AI-Delphi Swarm Hackathon.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338328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DNA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5-round AI-Delphi with a rotating Organizer; ruthless redundancy filtering; a rapid prototyping sprint at the close.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Maximum novelty plus a concrete deliverable in under two hours; rapid landscape mapping.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3 ·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AI-Delphi Swarm Hackathon — how it runs.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fixed outer rounds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Organizer rotates Claude → GPT → Gemini → Grok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Organizer creates bridge questions + runs a Redundancy Filter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Rapid Prototyping Sprint at the end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Grant abstract + 1 cheap experiment per question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02920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Grant abstracts + prototype experiments + a “Ship It” verdict.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4 · ORCHESTRATOR-IMPROV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 Flow Improv Lab.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33832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DNA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Sawyer Group Flow + improv theater. “Yes-and” rule plus three mandatory wild extensions per response, with theatrical energy throughout.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Creative breakthrough; escaping local minima; surfacing surprising Vedas–physics–agency analogies.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4 ·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 Flow Improv Lab — how it runs.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outer rounds — short and intense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response opens “Yes-and building on [prior idea]”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AI proposes exactly 3 wild extensions (Wild1/2/3)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Grand Finale written as a scripted kitchen-table dialogue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02920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theatrical dialogue script + a “Curtain Call” verdict.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5 · ORCHESTRATOR-FLASH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Ideaflow + Flash-Team.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33832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DNA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Utley Ideaflow + TSM flash-team. Every round is a 24-hour sprint with “input obsession” — one brand-new cross-domain source per AI per response.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Walking away with a ready-to-execute research plan with assigned owners.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058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5 ·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Ideaflow + Flash-Team — how it runs.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outer rounds; “Input Obsession” rule enforced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Grounding Check (simulate code / paper-search) after rounds 2 &amp; 4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Sprint Retrospective after each outer round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Flash Convergence: ranked priorities + owners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02920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Ranked execution roadmap + a “Minimum Lovable Research Program.”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6 · ORCHESTRATOR-REVIEW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Hybrid Quarterly Review.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3383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DNA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6309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real DeepMind quarterly off-site: bottom-up creative exploration, then a top-down adversarial leadership review.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31B2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Something shareable, publication-ready, or suitable for a research proposal; leadership audience.</a:t>
            </a:r>
            <a:endParaRPr lang="en-US" sz="13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6 ·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Hybrid Quarterly Review — how it runs.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 — 3 bottom-up blank+leak rounds + “Leadership Pulse” vote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2 — 1 adversarial round: one AI becomes “Jeff Dean + Safety Board / VC / Regulator”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Stress-tests every claim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02920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Publication-ready whitepaper, risk register, go/no-go + 3 flagship experiments.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COMMON 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Shared DNA across all six.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286000"/>
            <a:ext cx="548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286000"/>
            <a:ext cx="4297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Clean-slate blanking of the focal question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286000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286000"/>
            <a:ext cx="548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2286000"/>
            <a:ext cx="4297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Leaking of all other questions' current best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36499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64992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364992"/>
            <a:ext cx="548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3364992"/>
            <a:ext cx="4297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Four AI responses per focal question per round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36499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3364992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364992"/>
            <a:ext cx="548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3364992"/>
            <a:ext cx="4297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 selects the new Current Best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44398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443984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443984"/>
            <a:ext cx="548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3040" y="4443984"/>
            <a:ext cx="4297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Distillation identifies the strongest cross-connection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444398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443984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443984"/>
            <a:ext cx="548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49440" y="4443984"/>
            <a:ext cx="4297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final convergence synthesis across all questions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state machine,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configs.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six workflows share the same Orchestrator state machine. They differ only in configuration parameters — adding a workflow is writing a new Skill file, not new engine code.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2336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5780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2668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95560" y="34290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858768"/>
            <a:ext cx="1083564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502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Outer rounds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23360" y="3950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950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950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26680" y="3950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0" y="3950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95560" y="39502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3+1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407408"/>
            <a:ext cx="1083564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53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Blanked / loop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23360" y="4453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1–3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4453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4453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4453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1–3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0" y="4453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95560" y="44531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4910328"/>
            <a:ext cx="1083564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956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Organizer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23360" y="4956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4956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4956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26680" y="4956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61120" y="4956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195560" y="495604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" y="5413248"/>
            <a:ext cx="10835640" cy="0"/>
          </a:xfrm>
          <a:prstGeom prst="line">
            <a:avLst/>
          </a:prstGeom>
          <a:noFill/>
          <a:ln w="6350">
            <a:solidFill>
              <a:srgbClr val="1E2D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458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Word budget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02336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5780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9224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2668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6112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195560" y="54589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DECISION HEURISTIC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How to choose.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9456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 time budget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0" y="219456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W4 (3 rounds) or W3 (5 short rounds)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69748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69748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Need an actionable roadmap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0" y="26974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20040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Need a whitepaper / board deck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0" y="32004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7033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Stuck in a local minimum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49440" y="370332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20624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0624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Need stress-testing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420624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70916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70916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Depth + interdependency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49440" y="470916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W1 or W2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21208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21208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Team-convergence feel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49440" y="52120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W2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715000"/>
            <a:ext cx="10835640" cy="438912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71500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Don't know which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5715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 meta-harness decides for you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 · THE WORKFLOWS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RECOMMENDED START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Begin with W2 — Kitchen Table.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10789920" cy="18288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64008" cy="1828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is the closest match to what the actual DeepMind leaders described doing — the long-shared-history, finish-each-other's-sentences dynamic — and explicitly maintains all three transactive systems (TMS / TAS / TRS).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805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also serves as the base for the advanced Tsaheylu-infused evolution, Harness Omega-1.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Layers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Workflows ⊂ meta-harness ⊂ meta-meta-harness — and the Tsaheylu creative-infusion behind the feasibility gate.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065 / 100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NESTED ABSTRACTION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Three nested layers.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395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META-META-HARNESS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generates · critiques · self-improves harnesses; hosts Tsaheylu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342900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429000"/>
            <a:ext cx="64008" cy="9601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35387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META-HARNESS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9319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goal → decompose → assign → select →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45720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4572000"/>
            <a:ext cx="64008" cy="960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46817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WORKFLOWS  W1–W6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80360" y="5074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six collaborative-intelligence patterns over the blank+leak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52560" y="2286000"/>
            <a:ext cx="9144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406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⊂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layer operates one level of abstraction higher than the one it contains.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Workflows — the patterns.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Six workflow skills, each encoding a distinct collaborative-intelligence pattern, all sharing the same Phase-0 setup and the same P0–P5 prompt principles.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20040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W1 Cross-Pollination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320040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320040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W2 Kitchen Table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01000" y="320040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320040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W3 Delphi Hackathon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0624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20624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06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W4 Improv Lab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420624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20624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W5 Flash-Team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01000" y="420624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420624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2062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W6 Quarterly Review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foundations:  _shared/expert-setup.md  ·  _shared/prompt-principles.md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068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Meta-Harness — the selector.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Accepts an arbitrary GOAL, decomposes it into N tightly-coupled sub-questions, assigns expert lenses, selects the best-fit workflow, and runs the session end to end.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83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GOAL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384048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60320" y="338328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338328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383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DECOMPOSE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84048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34840" y="338328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38328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383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COUPLING MAP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84048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09360" y="338328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38328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383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ASSIGN LENSES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01000" y="384048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83880" y="338328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38328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3383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SELECT WORKFLOW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75520" y="3840480"/>
            <a:ext cx="1828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058400" y="338328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338328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10149840" y="338328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7548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selection keys on time budget × goal type (exploration · breadth-mapping · actionable plan · creative reframe · stress-testing).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DECOMPOSITION DISCIPLINE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Good sub-questions only.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10835640" cy="621792"/>
          </a:xfrm>
          <a:prstGeom prst="roundRect">
            <a:avLst>
              <a:gd name="adj" fmla="val 7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8600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Necessity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286000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removing it would leave a gap in the goal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2999232"/>
            <a:ext cx="10835640" cy="621792"/>
          </a:xfrm>
          <a:prstGeom prst="roundRect">
            <a:avLst>
              <a:gd name="adj" fmla="val 735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9923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Interdependence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999232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pair has at least a weak coupling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712464"/>
            <a:ext cx="10835640" cy="621792"/>
          </a:xfrm>
          <a:prstGeom prst="roundRect">
            <a:avLst>
              <a:gd name="adj" fmla="val 7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1246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Non-overlap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712464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two ask the same thing differently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425696"/>
            <a:ext cx="10835640" cy="621792"/>
          </a:xfrm>
          <a:prstGeom prst="roundRect">
            <a:avLst>
              <a:gd name="adj" fmla="val 735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42569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phrasing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4425696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How… / What… / Under what conditions…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138928"/>
            <a:ext cx="10835640" cy="621792"/>
          </a:xfrm>
          <a:prstGeom prst="roundRect">
            <a:avLst>
              <a:gd name="adj" fmla="val 7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13892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Size invariant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5138928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 ∈ [3, 12] — below 3 no cross-pollination; above 12 the leak context bloats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coupling map (interdependence per pair) is generated before the run — it drives the leaking and the final meta-analysis.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Meta-Meta-Harness —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self-breeding.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Harnesses that generate, critique, and self-improve other harnesses. Not hypothetical — by 2026, Meta-Agent, KernelEvolve, and Meta-Harness demonstrate the scaffolding is already viable.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66160"/>
            <a:ext cx="64008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spin a new harness variant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42232" y="3566160"/>
            <a:ext cx="228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406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43400" y="35661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3566160"/>
            <a:ext cx="64008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CRITIQUE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22452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structural gaps, missing gates, novelty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9832" y="3566160"/>
            <a:ext cx="228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406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01000" y="35661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566160"/>
            <a:ext cx="64008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749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SELF-IMPROVE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422452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patch, version, changelog — up to 3 iterations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349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Recurse three times → an architecture that spins up entirely new research programs for 2030 problems.</a:t>
            </a: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OPERATIONAL, NOT DECORATIVE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Sci-fi + myth as a</a:t>
            </a:r>
            <a:endParaRPr lang="en-US" sz="2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breakthrough mechanism.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Koestler's bisociation: slam two unrelated matrices together until sparks fly. Analogical depth from distant domains doubles idea output in creative teams.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64008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8328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Verne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338328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the submarine (Simon Lake)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38328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38328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338328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liquid-fuel rocket (Goddard) &amp; chain reaction (Szilard)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51960"/>
            <a:ext cx="64008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Star Trek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425196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the cellphone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42519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25196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25196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Clarke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425196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the relay satellite / WWW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51206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120640"/>
            <a:ext cx="64008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12064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Interstellar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14600" y="512064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accurate black-hole rendering (Kip Thorne)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51206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12064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120640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Mythology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01000" y="5120640"/>
            <a:ext cx="3246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Talos, Golem, Prometheus: every AI trope, pre-figured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 · THE LAYERS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CREATIVE INFUSION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Tsaheylu — behind the</a:t>
            </a:r>
            <a:endParaRPr lang="en-US" sz="2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feasibility gate.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Avatar, the Tree of Souls is transactive collective intelligence made literal: ancestors queue context through the neural bond while the focal singer receives fresh, uncontaminated insight from the whole forest.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Tree of Souls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the six-workflow swarm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ancestors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4108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Claude · GPT · Gemini · Grok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Tsahìk shaman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the Orchestrator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Tsaheylu bond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4108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the blank + leak mechanic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709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Sacred disconnection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54680" y="4709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deleting the focal answer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72200" y="4709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Forest pouring wisdom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41080" y="4709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siblings flooding the fresh derivation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48640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4864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Opt-in only — kept behind the P3/P4 feasibility gate so outputs stay engineering-grade, not poetry.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VII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Principles &amp; Guardrails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Persona P0; principles P1–P5; the per-step verification harness; and absolute transparency with full lineage.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073 / 100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 · P0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Persona.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Triple-PhD MIT Genius — applied to the Orchestrator AND every expert. The epistemic contract that sets the quality floor, breadth of reference, courage, and self-critique for the whole run.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 · P1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Fresh first-principles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derivation.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108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P1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focal question is answered from a clean slate, re-derived from cross-domain fundamentals — never paraphrased from a prior answer.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 · P2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Cross-domain ruthlessness.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108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P2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Draw from physics, chemistry, biology, neuroscience, philosophy, Vedas/Upanishads, complex systems. Analogies must be mechanistic, not decorative.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 · P3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Sci-fi as SPARK,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not SUBSTANCE.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10896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6B9D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 light inspiration from sci-fi broadly — Asimov, Clarke, Le Guin, Banks's Culture Minds, Egan, Watts, Liu Cixin — to escape local minima. But if an evocative analogy can't become a buildable mechanism, drop it.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078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 · P4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Implementability &amp;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feasibility first.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108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P4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Prioritize buildability over novelty or spectacle. Every hypothesis must be implementable with current/near-term ML &amp; compute — or explicitly name the single missing capability that would unlock it. No hand-waving, no magic.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 · P5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Falsifiable close —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length cap.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0789920" cy="310896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2C55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P5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108960" y="2697480"/>
            <a:ext cx="8138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 every answer with concrete, near-term experiments a small team could run, each naming the confirm/falsify metric. Length caps removed; detailed chain-of-thought required on every invocation.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VERIFICATION HARNESS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gate at every step.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pure function the Orchestrator calls at each gate point:  verify(gate_type, context) → { passed, observed, expected }.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718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718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readiness_gate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9718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9718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response-complete_gate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0" y="29718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9718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9718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schema_gate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8862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862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8862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domain-coverage_gate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8862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8862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distillation_gate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01000" y="38862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38862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38862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safety_gate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48006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8006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8006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participation_gate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43400" y="48006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48006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48006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completeness_gate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01000" y="4800600"/>
            <a:ext cx="3429000" cy="749808"/>
          </a:xfrm>
          <a:prstGeom prst="roundRect">
            <a:avLst>
              <a:gd name="adj" fmla="val 731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01000" y="4800600"/>
            <a:ext cx="64008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8006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word-count_gate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  ·  schema_gate: response.startswith(“FRESH DERIVATION FOR Q{n}:”)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FAILURE HANDLING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Escalation &amp; isolation.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14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GATE-FAILURE ESCALATION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 → log → retry the step once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 again → log attempt 2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Surface observed vs. expected to user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User: continue · retry · abort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Overrides are logged, never silent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2860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286000"/>
            <a:ext cx="64008" cy="3200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14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FAILURE-DOMAIN ISOLATION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expert tab fails → others continue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Wrong mode → Phase-0 gate blocks the run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error → 2 retries → escalate, state intact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Login wall → pause, preserve, resume clean</a:t>
            </a:r>
            <a:endParaRPr lang="en-US" sz="12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Tsaheylu feasibility fail → auto-revert to base</a:t>
            </a:r>
            <a:endParaRPr lang="en-US" sz="12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 · GUARDRAILS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ABSOLUTE OPENNESS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Transparency &amp; lineage.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invocation, response, screenshot, current-best, and synthesis is archived as Markdown. The core asymmetry: blank in-context, preserve in-archive.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10896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Write-only during run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archive is the ground truth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1089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10896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Full lineage chain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Current Best records source slot + round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31089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310896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Reconstructable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rebuild state from the archive alone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43484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Audit screenshots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evidence, not parsed input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4348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443484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gate-log.json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0" y="4983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 pass/fail audit trail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01000" y="44348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4434840"/>
            <a:ext cx="64008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Sacrosanct history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29600" y="4983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blanking never deletes the archive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VIII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Proof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six DeepMind questions, run live and fully archived — starting with Question 1.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083 / 100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 · PROOF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WORKED 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questions, run live</a:t>
            </a:r>
            <a:endParaRPr lang="en-US" sz="27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and fully archived.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canonical demonstration applies the harness to the six open research questions from the DeepMind/Gemini talk — at the genuine frontier of current AI research.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56616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EXPERTS / LOOP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W1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C55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905256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ARCHIVED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 · PROOF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LIVE 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Question 1.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107899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774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“How do we build truly self-learning / organic continuously learning architectures?”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5212080" cy="731520"/>
          </a:xfrm>
          <a:prstGeom prst="roundRect">
            <a:avLst>
              <a:gd name="adj" fmla="val 625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31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97480" y="3931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W1 Cross-Pollination Engine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212080" cy="731520"/>
          </a:xfrm>
          <a:prstGeom prst="roundRect">
            <a:avLst>
              <a:gd name="adj" fmla="val 625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931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Outer round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3931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800600"/>
            <a:ext cx="5212080" cy="731520"/>
          </a:xfrm>
          <a:prstGeom prst="roundRect">
            <a:avLst>
              <a:gd name="adj" fmla="val 625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00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Inner loop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97480" y="4800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(seeding — no siblings yet)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4800600"/>
            <a:ext cx="5212080" cy="731520"/>
          </a:xfrm>
          <a:prstGeom prst="roundRect">
            <a:avLst>
              <a:gd name="adj" fmla="val 625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800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Invocation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8006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staged &amp; verbatim-archived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 · PROOF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086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 · CONVENE THE PANEL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tabs, four verified modes.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64008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Opus 4.8 · 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sanity hello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377440"/>
            <a:ext cx="64008" cy="1828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ChatGPT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118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 (Instant → Pro)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sanity hello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377440"/>
            <a:ext cx="64008" cy="1828800"/>
          </a:xfrm>
          <a:prstGeom prst="rect">
            <a:avLst/>
          </a:prstGeom>
          <a:solidFill>
            <a:srgbClr val="8B9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Gemini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550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3.1 Pro · Extended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sanity hello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15400" y="237744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2377440"/>
            <a:ext cx="64008" cy="182880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2560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Grok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0982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6B9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9828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sanity hello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452628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52628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5262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 GATE  ·  each composer label verified to match its target string before any round begins. No round runs with the wrong model.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 · PROOF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087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Step by step.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Convene tabs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2542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29000" y="23774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37744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118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Configure modes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542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72200" y="23774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37744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50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Sanity ping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2542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15400" y="23774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237744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982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Stage invocation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0" y="25420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5800" y="3840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3840480"/>
            <a:ext cx="6400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8680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expert outputs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5740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3840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0" y="3840480"/>
            <a:ext cx="6400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361188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611880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Distillation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72200" y="3840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3840480"/>
            <a:ext cx="6400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355080" y="4389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Best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43800" y="40050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5800" y="5440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Setup complete and archived; invocation staged. The transparent ledger captures every step's status and timestamp.</a:t>
            </a:r>
            <a:endParaRPr lang="en-US" sz="12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 · PROOF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088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TRANSPARENT ARCHIVE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Everything, on disk.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694944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2316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examples/{RUNID}/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state/run-{RUNID}.json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outer-loop-01/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├── inner-loop-Q1/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│   ├── invocation.md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│   ├── response-A/B/C/D.md  + .png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│   └── current-best.md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└── post-round-synthesis.md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final-convergence/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final-report.md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└── gate-log.json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224028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240280"/>
            <a:ext cx="64008" cy="3566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88036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One-directional push to experts</a:t>
            </a:r>
            <a:endParaRPr lang="en-US" sz="1150" dirty="0"/>
          </a:p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Siblings travel via the Orchestrator</a:t>
            </a:r>
            <a:endParaRPr lang="en-US" sz="1150" dirty="0"/>
          </a:p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archive is ground truth</a:t>
            </a:r>
            <a:endParaRPr lang="en-US" sz="1150" dirty="0"/>
          </a:p>
          <a:p>
            <a:pPr algn="l" marL="228600" indent="-2286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Screenshots are audit evidence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VIII · PROOF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Lineage you can replay.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current-best.md records the slot that produced it and the round — a full lineage chain reconstructable from the archive even without the state file.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200400"/>
            <a:ext cx="10058400" cy="548640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200400"/>
            <a:ext cx="64008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Round 4 Current Best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325880" y="3858768"/>
            <a:ext cx="9601200" cy="548640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3858768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8587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selected from Slot A (response-A-04-Q1.md)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783080" y="4517136"/>
            <a:ext cx="9144000" cy="548640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4517136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451713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generated with invocation embedding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240280" y="5175504"/>
            <a:ext cx="8686800" cy="548640"/>
          </a:xfrm>
          <a:prstGeom prst="roundRect">
            <a:avLst>
              <a:gd name="adj" fmla="val 833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5175504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5175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Q2…Q6 Round 3 Current Best (verbatim siblings)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Because every invocation.md contains the sibling best-answers verbatim, the run is fully replayable.</a:t>
            </a:r>
            <a:endParaRPr lang="en-US" sz="12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IX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 &amp; Vision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it is and isn't, why now, the honest limits, the roadmap, and the self-breeding horizon.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090 / 100</a:t>
            </a:r>
            <a:endParaRPr lang="en-US" sz="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 · IMPACT &amp;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091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 it IS — and ISN'T.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31720"/>
            <a:ext cx="64008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IS NOT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simple chat aggregator or A/B tool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prompt-chaining library calling 4 APIs</a:t>
            </a:r>
            <a:endParaRPr lang="en-US" sz="1400" dirty="0"/>
          </a:p>
          <a:p>
            <a:pPr algn="l" marL="228600" indent="-2286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voting system where the majority wins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331720"/>
            <a:ext cx="64008" cy="3200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C5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structured, theory-grounded, iterative cross-pollination protocol that produces emergent insight no individual expert would generate alone.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 · IMPACT &amp;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092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this, now.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39572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011680" y="240487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credible frontier LLMs exist simultaneously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798064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Claude, GPT, Gemini, Grok — distinct training lineages and epistemic profiles. Not true two years ago.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29000"/>
            <a:ext cx="64008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53872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011680" y="354787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Claude-in-Chrome removes the cost barrier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11680" y="3941064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Programmatic orchestration through public browser interfaces — no API cost or rate-limit wall for four-model coordination.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57200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72000"/>
            <a:ext cx="64008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8172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011680" y="4690872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Claude Code encodes it as one command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011680" y="5084064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Complex multi-step orchestration becomes a reusable, composable skill — as easy to invoke as a slash-command.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 · IMPACT &amp;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093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INTELLECTUAL HONESTY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honest limits.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method excels at divergence and recombination but is weaker on convergence to actionable, high-confidence insight. What it cannot fully replicate: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Ruthless self-critique and taste (humans prune; models flatter)</a:t>
            </a:r>
            <a:endParaRPr lang="en-US" sz="13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primary-source immersion + embodied intuition from failures</a:t>
            </a:r>
            <a:endParaRPr lang="en-US" sz="13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Empirical/validation loop — running the experiment, falsifying</a:t>
            </a:r>
            <a:endParaRPr lang="en-US" sz="13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 reformulation — maybe the real open question is different</a:t>
            </a:r>
            <a:endParaRPr lang="en-US" sz="1350" dirty="0"/>
          </a:p>
          <a:p>
            <a:pPr algn="l" marL="228600" indent="-2286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 incubation + serendipity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534924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5349240"/>
            <a:ext cx="64008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turbocharged idea-generation workshop — not the full end-to-end discovery pipeline.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 · IMPACT &amp;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094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QUICK HIGH-IMPACT UPGRADES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roadmap.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Role randomization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7249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rotate AI sub-roles per round for fresh framing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286000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Critic / Organizer agent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0" y="27249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filter redundancy, generate linking questions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336499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64992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56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 rounds + falsification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380390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rounds + one cheap counter-example round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172200" y="336499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3364992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4564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Per-round distillation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380390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 the single most fertile new cross-link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85800" y="444398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443984"/>
            <a:ext cx="64008" cy="9326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5354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Yes-and + build-on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4400" y="488289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extend prior ideas ruthlessly but kindly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444398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443984"/>
            <a:ext cx="64008" cy="9326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5354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Ground every other round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0" y="488289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paper search / code simulation</a:t>
            </a:r>
            <a:endParaRPr lang="en-US" sz="108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 · IMPACT &amp;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095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HORIZON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self-breeding</a:t>
            </a:r>
            <a:endParaRPr lang="en-US" sz="2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architecture.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Infuse each workflow with generator / Dreamer roles. Each becomes a self-breeding innovation organism.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6400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930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Infuse a Dreamer role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42232" y="338328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406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43400" y="33832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3383280"/>
            <a:ext cx="6400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4930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Recurse the meta-meta loop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99832" y="3383280"/>
            <a:ext cx="228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406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01000" y="338328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383280"/>
            <a:ext cx="64008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34930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0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Three iterations deep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8463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846320"/>
            <a:ext cx="64008" cy="9601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84632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→ an architecture that can, without human prompting, spin up entirely new research programs for 2030 problems.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-1371600" y="-914400"/>
            <a:ext cx="5486400" cy="5486400"/>
          </a:xfrm>
          <a:prstGeom prst="rect">
            <a:avLst/>
          </a:prstGeom>
          <a:solidFill>
            <a:srgbClr val="C07F1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840000">
            <a:off x="8534095" y="3200400"/>
            <a:ext cx="5486400" cy="5486400"/>
          </a:xfrm>
          <a:prstGeom prst="rect">
            <a:avLst/>
          </a:prstGeom>
          <a:solidFill>
            <a:srgbClr val="0099BB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Consciousness scales not by bigger models alone,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but by richer, stranger, more myth-drenched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connections between minds — biological or synthetic.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research/04 · the closing note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IX · IMPACT &amp; VISION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096 / 100</a:t>
            </a:r>
            <a:endParaRPr lang="en-US" sz="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12191695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9704"/>
            <a:ext cx="12191695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82880"/>
            <a:ext cx="402336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1182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X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Close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thesis, how to start, and an appendix of the references and named systems behind the harness.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097 / 100</a:t>
            </a:r>
            <a:endParaRPr lang="en-US" sz="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705432" cy="228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Four frontier AIs.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Six innovation workflows.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orchestrating mind.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4297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Collective intelligence, engineered — and fully archived.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blanking + leaking  ·  Group Genius  ·  TSM-CI  ·  transparent lineage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X · CLOSE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098 / 100</a:t>
            </a:r>
            <a:endParaRPr lang="en-US" sz="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X · CLOSE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099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Run it.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8600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meta-harness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 a GOAL — it decomposes, selects, and runs end to end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33756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337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workflow W1–W6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invoke a specific pattern directly if you know the fit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89120"/>
            <a:ext cx="64008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89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meta-meta-harness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43891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generate a new harness variant or apply the Tsaheylu upgrade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MIT-licensed  ·  full session archives in examples/  ·  GitHub Pages site in docs/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-1371600" y="-1371600"/>
            <a:ext cx="4572000" cy="4572000"/>
          </a:xfrm>
          <a:prstGeom prst="rect">
            <a:avLst/>
          </a:prstGeom>
          <a:solidFill>
            <a:srgbClr val="0099B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9265615" y="3749040"/>
            <a:ext cx="4572000" cy="4572000"/>
          </a:xfrm>
          <a:prstGeom prst="rect">
            <a:avLst/>
          </a:prstGeom>
          <a:solidFill>
            <a:srgbClr val="C07F1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6095848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META-INNOVATION HARNESS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6437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X · CLOSE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317175" y="6437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/ 100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00D4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768096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References &amp; named systems.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94560"/>
            <a:ext cx="64008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2304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Group Genius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6968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Keith Sawyer (2007)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219456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9456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44568" y="2304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TSM-CI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44568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Woolley · Gupta et al. (2021–25)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01000" y="219456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194560"/>
            <a:ext cx="64008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8202168" y="23042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Delphi Method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02168" y="2651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Dalkey &amp; Helmer (1963)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15468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15468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Ideaflow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6968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Jeremy Utley (2023)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315468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154680"/>
            <a:ext cx="64008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4544568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Anchoring Bias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44568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Tversky &amp; Kahneman (1974)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01000" y="315468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315468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02168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Bisociation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02168" y="3611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Arthur Koestler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411480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4114800"/>
            <a:ext cx="64008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886968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SEAL · AlphaEvolve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86968" y="4572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self-improving systems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43400" y="411480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411480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44568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Darwin-Gödel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44568" y="4572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self-modifying agents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01000" y="411480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01000" y="4114800"/>
            <a:ext cx="64008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8202168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Meta-Agent · KernelEvolve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202168" y="4572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auto-constructed multi-agent / inference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5800" y="507492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" y="507492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9" name="Text 47"/>
          <p:cNvSpPr/>
          <p:nvPr/>
        </p:nvSpPr>
        <p:spPr>
          <a:xfrm>
            <a:off x="886968" y="5184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CollabEval · MacNet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86968" y="5532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multi-agent LLM frameworks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43400" y="507492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43400" y="5074920"/>
            <a:ext cx="64008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3" name="Text 51"/>
          <p:cNvSpPr/>
          <p:nvPr/>
        </p:nvSpPr>
        <p:spPr>
          <a:xfrm>
            <a:off x="4544568" y="5184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Iteration-of-Thought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4544568" y="5532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iterative reasoning rounds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001000" y="507492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1B25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5074920"/>
            <a:ext cx="64008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7" name="Text 55"/>
          <p:cNvSpPr/>
          <p:nvPr/>
        </p:nvSpPr>
        <p:spPr>
          <a:xfrm>
            <a:off x="8202168" y="51846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Tsaheylu / Vitraya Ramunong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202168" y="5532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Avatar mythic-infusion layer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Sources: README.md · research/02 · research/04 · documentation/*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dlmastery · Meta-Innovation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Meta-Innovation Harness — Pitch Deck</dc:title>
  <dc:subject>PptxGenJS Presentation</dc:subject>
  <dc:creator>Triple-PhD MIT Genius (Orchestrator)</dc:creator>
  <cp:lastModifiedBy>Triple-PhD MIT Genius (Orchestrator)</cp:lastModifiedBy>
  <cp:revision>1</cp:revision>
  <dcterms:created xsi:type="dcterms:W3CDTF">2026-05-30T20:44:01Z</dcterms:created>
  <dcterms:modified xsi:type="dcterms:W3CDTF">2026-05-30T20:44:01Z</dcterms:modified>
</cp:coreProperties>
</file>